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4" r:id="rId6"/>
    <p:sldId id="2147470494" r:id="rId7"/>
    <p:sldId id="2147470501" r:id="rId8"/>
    <p:sldId id="2147470498" r:id="rId9"/>
    <p:sldId id="2147470497" r:id="rId10"/>
    <p:sldId id="2147470499" r:id="rId11"/>
    <p:sldId id="2147470502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prstClr val="white"/>
                </a:solidFill>
                <a:cs typeface="Calibri" panose="020F0502020204030204" pitchFamily="34" charset="0"/>
              </a:rPr>
              <a:t>GraphSafeAI</a:t>
            </a:r>
          </a:p>
          <a:p>
            <a:pPr lvl="0" algn="ctr">
              <a:defRPr/>
            </a:pPr>
            <a:r>
              <a:rPr lang="en-US" sz="2400" b="0" dirty="0">
                <a:solidFill>
                  <a:prstClr val="white"/>
                </a:solidFill>
                <a:cs typeface="Calibri" panose="020F0502020204030204" pitchFamily="34" charset="0"/>
              </a:rPr>
              <a:t>Graph-Native Urban Safety Intelligence for Chennai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Shivanshika Agarwal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T9978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0000" y="1400000"/>
            <a:ext cx="6300000" cy="3900000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</a:rPr>
              <a:t>Navigation apps optimise distance, time and traffic, not how safe a route is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</a:rPr>
              <a:t>GraphSafeAI is a graph-native urban safety intelligence platform for Chennai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</a:rPr>
              <a:t>It turns citizen reports into regional risk analytics, GraphSAGE risk predictions and risk-aware routes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</a:rPr>
              <a:t>Built on OpenStreetMap road data and 4,934 city regions</a:t>
            </a:r>
          </a:p>
        </p:txBody>
      </p:sp>
      <p:sp>
        <p:nvSpPr>
          <p:cNvPr id="101" name="Card 101"/>
          <p:cNvSpPr/>
          <p:nvPr/>
        </p:nvSpPr>
        <p:spPr>
          <a:xfrm>
            <a:off x="7000000" y="1450000"/>
            <a:ext cx="4700000" cy="165000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</p:spPr>
        <p:txBody>
          <a:bodyPr wrap="square" lIns="180000" tIns="150000" rIns="18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rgbClr val="1F4E79"/>
                </a:solidFill>
                <a:latin typeface="+mn-lt"/>
              </a:rPr>
              <a:t>Conventional routing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Optimises distance, time and traffic. Safety is not an input.</a:t>
            </a:r>
          </a:p>
        </p:txBody>
      </p:sp>
      <p:sp>
        <p:nvSpPr>
          <p:cNvPr id="102" name="Card 102"/>
          <p:cNvSpPr/>
          <p:nvPr/>
        </p:nvSpPr>
        <p:spPr>
          <a:xfrm>
            <a:off x="7000000" y="3400000"/>
            <a:ext cx="4700000" cy="1900000"/>
          </a:xfrm>
          <a:prstGeom prst="roundRect">
            <a:avLst>
              <a:gd name="adj" fmla="val 7000"/>
            </a:avLst>
          </a:prstGeom>
          <a:solidFill>
            <a:srgbClr val="1C4D98"/>
          </a:solidFill>
          <a:ln>
            <a:noFill/>
          </a:ln>
        </p:spPr>
        <p:txBody>
          <a:bodyPr wrap="square" lIns="180000" tIns="150000" rIns="18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+mn-lt"/>
              </a:rPr>
              <a:t>GraphSafeAI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+mn-lt"/>
              </a:rPr>
              <a:t>Optimises distance and safety. Answers one question: what is the safest reasonable path from A to B?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0000" y="1330000"/>
            <a:ext cx="11400000" cy="70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5583D1"/>
                </a:solidFill>
                <a:latin typeface="+mn-lt"/>
              </a:rPr>
              <a:t>Turn citizen safety reports into predicted risk and safer routes</a:t>
            </a:r>
          </a:p>
        </p:txBody>
      </p:sp>
      <p:sp>
        <p:nvSpPr>
          <p:cNvPr id="103" name="Card 103"/>
          <p:cNvSpPr/>
          <p:nvPr/>
        </p:nvSpPr>
        <p:spPr>
          <a:xfrm>
            <a:off x="300000" y="2150000"/>
            <a:ext cx="560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000000" tIns="170000" rIns="18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200" b="1" i="0" dirty="0">
                <a:solidFill>
                  <a:srgbClr val="1F4E79"/>
                </a:solidFill>
                <a:latin typeface="+mn-lt"/>
              </a:rPr>
              <a:t>Collect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Capture citizen reports and assign each one to a named city region</a:t>
            </a:r>
          </a:p>
        </p:txBody>
      </p:sp>
      <p:sp>
        <p:nvSpPr>
          <p:cNvPr id="104" name="Badge 104"/>
          <p:cNvSpPr/>
          <p:nvPr/>
        </p:nvSpPr>
        <p:spPr>
          <a:xfrm>
            <a:off x="600000" y="2450000"/>
            <a:ext cx="500000" cy="50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105" name="Card 105"/>
          <p:cNvSpPr/>
          <p:nvPr/>
        </p:nvSpPr>
        <p:spPr>
          <a:xfrm>
            <a:off x="6100000" y="2150000"/>
            <a:ext cx="560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000000" tIns="170000" rIns="18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200" b="1" i="0" dirty="0">
                <a:solidFill>
                  <a:srgbClr val="1F4E79"/>
                </a:solidFill>
                <a:latin typeface="+mn-lt"/>
              </a:rPr>
              <a:t>Quantify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Build safety features and risk scores from reports, amenities and neighbouring areas</a:t>
            </a:r>
          </a:p>
        </p:txBody>
      </p:sp>
      <p:sp>
        <p:nvSpPr>
          <p:cNvPr id="106" name="Badge 106"/>
          <p:cNvSpPr/>
          <p:nvPr/>
        </p:nvSpPr>
        <p:spPr>
          <a:xfrm>
            <a:off x="6400000" y="2450000"/>
            <a:ext cx="500000" cy="50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107" name="Card 107"/>
          <p:cNvSpPr/>
          <p:nvPr/>
        </p:nvSpPr>
        <p:spPr>
          <a:xfrm>
            <a:off x="300000" y="3850000"/>
            <a:ext cx="560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000000" tIns="170000" rIns="18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200" b="1" i="0" dirty="0">
                <a:solidFill>
                  <a:srgbClr val="1F4E79"/>
                </a:solidFill>
                <a:latin typeface="+mn-lt"/>
              </a:rPr>
              <a:t>Predict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Train GraphSAGE to predict a risk score for every node of the road graph</a:t>
            </a:r>
          </a:p>
        </p:txBody>
      </p:sp>
      <p:sp>
        <p:nvSpPr>
          <p:cNvPr id="108" name="Badge 108"/>
          <p:cNvSpPr/>
          <p:nvPr/>
        </p:nvSpPr>
        <p:spPr>
          <a:xfrm>
            <a:off x="600000" y="4150000"/>
            <a:ext cx="500000" cy="50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109" name="Card 109"/>
          <p:cNvSpPr/>
          <p:nvPr/>
        </p:nvSpPr>
        <p:spPr>
          <a:xfrm>
            <a:off x="6100000" y="3850000"/>
            <a:ext cx="560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000000" tIns="170000" rIns="18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200" b="1" i="0" dirty="0">
                <a:solidFill>
                  <a:srgbClr val="1F4E79"/>
                </a:solidFill>
                <a:latin typeface="+mn-lt"/>
              </a:rPr>
              <a:t>Navigate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Generate fastest, balanced and safe routes with bounded detours</a:t>
            </a:r>
          </a:p>
        </p:txBody>
      </p:sp>
      <p:sp>
        <p:nvSpPr>
          <p:cNvPr id="110" name="Badge 110"/>
          <p:cNvSpPr/>
          <p:nvPr/>
        </p:nvSpPr>
        <p:spPr>
          <a:xfrm>
            <a:off x="6400000" y="4150000"/>
            <a:ext cx="500000" cy="50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– Platform Overview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0000" y="1330000"/>
            <a:ext cx="11400000" cy="50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5583D1"/>
                </a:solidFill>
                <a:latin typeface="+mn-lt"/>
              </a:rPr>
              <a:t>Five of seven services are implemented; emergency and GraphRAG are planned</a:t>
            </a:r>
          </a:p>
        </p:txBody>
      </p:sp>
      <p:sp>
        <p:nvSpPr>
          <p:cNvPr id="111" name="Card 111"/>
          <p:cNvSpPr/>
          <p:nvPr/>
        </p:nvSpPr>
        <p:spPr>
          <a:xfrm>
            <a:off x="300000" y="1950000"/>
            <a:ext cx="2660000" cy="17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12" name="Heading 112"/>
          <p:cNvSpPr txBox="1"/>
          <p:nvPr/>
        </p:nvSpPr>
        <p:spPr>
          <a:xfrm>
            <a:off x="430000" y="20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</a:rPr>
              <a:t>Community Reporting</a:t>
            </a:r>
          </a:p>
        </p:txBody>
      </p:sp>
      <p:sp>
        <p:nvSpPr>
          <p:cNvPr id="113" name="Chip 113"/>
          <p:cNvSpPr/>
          <p:nvPr/>
        </p:nvSpPr>
        <p:spPr>
          <a:xfrm>
            <a:off x="430000" y="2470000"/>
            <a:ext cx="850000" cy="260000"/>
          </a:xfrm>
          <a:prstGeom prst="roundRect">
            <a:avLst>
              <a:gd name="adj" fmla="val 50000"/>
            </a:avLst>
          </a:prstGeom>
          <a:solidFill>
            <a:srgbClr val="4E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+mn-lt"/>
              </a:rPr>
              <a:t>Working</a:t>
            </a:r>
          </a:p>
        </p:txBody>
      </p:sp>
      <p:sp>
        <p:nvSpPr>
          <p:cNvPr id="114" name="Lines 114"/>
          <p:cNvSpPr txBox="1"/>
          <p:nvPr/>
        </p:nvSpPr>
        <p:spPr>
          <a:xfrm>
            <a:off x="430000" y="2810000"/>
            <a:ext cx="24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Create, update, moderate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Region assignment, history</a:t>
            </a:r>
          </a:p>
        </p:txBody>
      </p:sp>
      <p:sp>
        <p:nvSpPr>
          <p:cNvPr id="115" name="Card 115"/>
          <p:cNvSpPr/>
          <p:nvPr/>
        </p:nvSpPr>
        <p:spPr>
          <a:xfrm>
            <a:off x="3213333" y="1950000"/>
            <a:ext cx="2660000" cy="17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16" name="Heading 116"/>
          <p:cNvSpPr txBox="1"/>
          <p:nvPr/>
        </p:nvSpPr>
        <p:spPr>
          <a:xfrm>
            <a:off x="3343333" y="20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</a:rPr>
              <a:t>Safety Intelligence</a:t>
            </a:r>
          </a:p>
        </p:txBody>
      </p:sp>
      <p:sp>
        <p:nvSpPr>
          <p:cNvPr id="117" name="Chip 117"/>
          <p:cNvSpPr/>
          <p:nvPr/>
        </p:nvSpPr>
        <p:spPr>
          <a:xfrm>
            <a:off x="3343333" y="2470000"/>
            <a:ext cx="850000" cy="260000"/>
          </a:xfrm>
          <a:prstGeom prst="roundRect">
            <a:avLst>
              <a:gd name="adj" fmla="val 50000"/>
            </a:avLst>
          </a:prstGeom>
          <a:solidFill>
            <a:srgbClr val="4E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+mn-lt"/>
              </a:rPr>
              <a:t>Working</a:t>
            </a:r>
          </a:p>
        </p:txBody>
      </p:sp>
      <p:sp>
        <p:nvSpPr>
          <p:cNvPr id="118" name="Lines 118"/>
          <p:cNvSpPr txBox="1"/>
          <p:nvPr/>
        </p:nvSpPr>
        <p:spPr>
          <a:xfrm>
            <a:off x="3343333" y="2810000"/>
            <a:ext cx="24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Feature building, risk scores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Neighbour aggregation</a:t>
            </a:r>
          </a:p>
        </p:txBody>
      </p:sp>
      <p:sp>
        <p:nvSpPr>
          <p:cNvPr id="119" name="Card 119"/>
          <p:cNvSpPr/>
          <p:nvPr/>
        </p:nvSpPr>
        <p:spPr>
          <a:xfrm>
            <a:off x="6126666" y="1950000"/>
            <a:ext cx="2660000" cy="17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20" name="Heading 120"/>
          <p:cNvSpPr txBox="1"/>
          <p:nvPr/>
        </p:nvSpPr>
        <p:spPr>
          <a:xfrm>
            <a:off x="6256666" y="20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</a:rPr>
              <a:t>Graph Learning</a:t>
            </a:r>
          </a:p>
        </p:txBody>
      </p:sp>
      <p:sp>
        <p:nvSpPr>
          <p:cNvPr id="121" name="Chip 121"/>
          <p:cNvSpPr/>
          <p:nvPr/>
        </p:nvSpPr>
        <p:spPr>
          <a:xfrm>
            <a:off x="6256666" y="2470000"/>
            <a:ext cx="850000" cy="260000"/>
          </a:xfrm>
          <a:prstGeom prst="roundRect">
            <a:avLst>
              <a:gd name="adj" fmla="val 50000"/>
            </a:avLst>
          </a:prstGeom>
          <a:solidFill>
            <a:srgbClr val="4E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+mn-lt"/>
              </a:rPr>
              <a:t>Working</a:t>
            </a:r>
          </a:p>
        </p:txBody>
      </p:sp>
      <p:sp>
        <p:nvSpPr>
          <p:cNvPr id="122" name="Lines 122"/>
          <p:cNvSpPr txBox="1"/>
          <p:nvPr/>
        </p:nvSpPr>
        <p:spPr>
          <a:xfrm>
            <a:off x="6256666" y="2810000"/>
            <a:ext cx="24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GraphSAGE train and infer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Embeddings, evaluation</a:t>
            </a:r>
          </a:p>
        </p:txBody>
      </p:sp>
      <p:sp>
        <p:nvSpPr>
          <p:cNvPr id="123" name="Card 123"/>
          <p:cNvSpPr/>
          <p:nvPr/>
        </p:nvSpPr>
        <p:spPr>
          <a:xfrm>
            <a:off x="9039999" y="1950000"/>
            <a:ext cx="2660000" cy="17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24" name="Heading 124"/>
          <p:cNvSpPr txBox="1"/>
          <p:nvPr/>
        </p:nvSpPr>
        <p:spPr>
          <a:xfrm>
            <a:off x="9169999" y="20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</a:rPr>
              <a:t>Routing Engine</a:t>
            </a:r>
          </a:p>
        </p:txBody>
      </p:sp>
      <p:sp>
        <p:nvSpPr>
          <p:cNvPr id="125" name="Chip 125"/>
          <p:cNvSpPr/>
          <p:nvPr/>
        </p:nvSpPr>
        <p:spPr>
          <a:xfrm>
            <a:off x="9169999" y="2470000"/>
            <a:ext cx="850000" cy="260000"/>
          </a:xfrm>
          <a:prstGeom prst="roundRect">
            <a:avLst>
              <a:gd name="adj" fmla="val 50000"/>
            </a:avLst>
          </a:prstGeom>
          <a:solidFill>
            <a:srgbClr val="4E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+mn-lt"/>
              </a:rPr>
              <a:t>Working</a:t>
            </a:r>
          </a:p>
        </p:txBody>
      </p:sp>
      <p:sp>
        <p:nvSpPr>
          <p:cNvPr id="126" name="Lines 126"/>
          <p:cNvSpPr txBox="1"/>
          <p:nvPr/>
        </p:nvSpPr>
        <p:spPr>
          <a:xfrm>
            <a:off x="9169999" y="2810000"/>
            <a:ext cx="24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Region-to-region planning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Outputs a region corridor</a:t>
            </a:r>
          </a:p>
        </p:txBody>
      </p:sp>
      <p:sp>
        <p:nvSpPr>
          <p:cNvPr id="127" name="Card 127"/>
          <p:cNvSpPr/>
          <p:nvPr/>
        </p:nvSpPr>
        <p:spPr>
          <a:xfrm>
            <a:off x="300000" y="3750000"/>
            <a:ext cx="2660000" cy="17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28" name="Heading 128"/>
          <p:cNvSpPr txBox="1"/>
          <p:nvPr/>
        </p:nvSpPr>
        <p:spPr>
          <a:xfrm>
            <a:off x="430000" y="38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</a:rPr>
              <a:t>Navigation Engine</a:t>
            </a:r>
          </a:p>
        </p:txBody>
      </p:sp>
      <p:sp>
        <p:nvSpPr>
          <p:cNvPr id="129" name="Chip 129"/>
          <p:cNvSpPr/>
          <p:nvPr/>
        </p:nvSpPr>
        <p:spPr>
          <a:xfrm>
            <a:off x="430000" y="4270000"/>
            <a:ext cx="850000" cy="260000"/>
          </a:xfrm>
          <a:prstGeom prst="roundRect">
            <a:avLst>
              <a:gd name="adj" fmla="val 50000"/>
            </a:avLst>
          </a:prstGeom>
          <a:solidFill>
            <a:srgbClr val="4E9A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+mn-lt"/>
              </a:rPr>
              <a:t>Working</a:t>
            </a:r>
          </a:p>
        </p:txBody>
      </p:sp>
      <p:sp>
        <p:nvSpPr>
          <p:cNvPr id="130" name="Lines 130"/>
          <p:cNvSpPr txBox="1"/>
          <p:nvPr/>
        </p:nvSpPr>
        <p:spPr>
          <a:xfrm>
            <a:off x="430000" y="4610000"/>
            <a:ext cx="24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A* on OSM road graph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Risk-aware route profiles</a:t>
            </a:r>
          </a:p>
        </p:txBody>
      </p:sp>
      <p:sp>
        <p:nvSpPr>
          <p:cNvPr id="131" name="Card 131"/>
          <p:cNvSpPr/>
          <p:nvPr/>
        </p:nvSpPr>
        <p:spPr>
          <a:xfrm>
            <a:off x="3213333" y="3750000"/>
            <a:ext cx="2660000" cy="17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32" name="Heading 132"/>
          <p:cNvSpPr txBox="1"/>
          <p:nvPr/>
        </p:nvSpPr>
        <p:spPr>
          <a:xfrm>
            <a:off x="3343333" y="38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</a:rPr>
              <a:t>Emergency Engine</a:t>
            </a:r>
          </a:p>
        </p:txBody>
      </p:sp>
      <p:sp>
        <p:nvSpPr>
          <p:cNvPr id="133" name="Chip 133"/>
          <p:cNvSpPr/>
          <p:nvPr/>
        </p:nvSpPr>
        <p:spPr>
          <a:xfrm>
            <a:off x="3343333" y="4270000"/>
            <a:ext cx="850000" cy="2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42424"/>
                </a:solidFill>
                <a:latin typeface="+mn-lt"/>
              </a:rPr>
              <a:t>Planned</a:t>
            </a:r>
          </a:p>
        </p:txBody>
      </p:sp>
      <p:sp>
        <p:nvSpPr>
          <p:cNvPr id="134" name="Lines 134"/>
          <p:cNvSpPr txBox="1"/>
          <p:nvPr/>
        </p:nvSpPr>
        <p:spPr>
          <a:xfrm>
            <a:off x="3343333" y="4610000"/>
            <a:ext cx="24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Hospital, police coverage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Emergency routing</a:t>
            </a:r>
          </a:p>
        </p:txBody>
      </p:sp>
      <p:sp>
        <p:nvSpPr>
          <p:cNvPr id="135" name="Card 135"/>
          <p:cNvSpPr/>
          <p:nvPr/>
        </p:nvSpPr>
        <p:spPr>
          <a:xfrm>
            <a:off x="6126666" y="3750000"/>
            <a:ext cx="2660000" cy="17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36" name="Heading 136"/>
          <p:cNvSpPr txBox="1"/>
          <p:nvPr/>
        </p:nvSpPr>
        <p:spPr>
          <a:xfrm>
            <a:off x="6256666" y="38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+mn-lt"/>
              </a:rPr>
              <a:t>GraphRAG Engine</a:t>
            </a:r>
          </a:p>
        </p:txBody>
      </p:sp>
      <p:sp>
        <p:nvSpPr>
          <p:cNvPr id="137" name="Chip 137"/>
          <p:cNvSpPr/>
          <p:nvPr/>
        </p:nvSpPr>
        <p:spPr>
          <a:xfrm>
            <a:off x="6256666" y="4270000"/>
            <a:ext cx="850000" cy="26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42424"/>
                </a:solidFill>
                <a:latin typeface="+mn-lt"/>
              </a:rPr>
              <a:t>Planned</a:t>
            </a:r>
          </a:p>
        </p:txBody>
      </p:sp>
      <p:sp>
        <p:nvSpPr>
          <p:cNvPr id="138" name="Lines 138"/>
          <p:cNvSpPr txBox="1"/>
          <p:nvPr/>
        </p:nvSpPr>
        <p:spPr>
          <a:xfrm>
            <a:off x="6256666" y="4610000"/>
            <a:ext cx="24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Knowledge graph, vectors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Safety copilot and Q&amp;A</a:t>
            </a:r>
          </a:p>
        </p:txBody>
      </p:sp>
      <p:sp>
        <p:nvSpPr>
          <p:cNvPr id="139" name="Card 139"/>
          <p:cNvSpPr/>
          <p:nvPr/>
        </p:nvSpPr>
        <p:spPr>
          <a:xfrm>
            <a:off x="9039999" y="3750000"/>
            <a:ext cx="2660000" cy="1700000"/>
          </a:xfrm>
          <a:prstGeom prst="roundRect">
            <a:avLst>
              <a:gd name="adj" fmla="val 7000"/>
            </a:avLst>
          </a:prstGeom>
          <a:solidFill>
            <a:srgbClr val="1C4D9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40" name="Heading 140"/>
          <p:cNvSpPr txBox="1"/>
          <p:nvPr/>
        </p:nvSpPr>
        <p:spPr>
          <a:xfrm>
            <a:off x="9169999" y="38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+mn-lt"/>
              </a:rPr>
              <a:t>Data Foundation</a:t>
            </a:r>
          </a:p>
        </p:txBody>
      </p:sp>
      <p:sp>
        <p:nvSpPr>
          <p:cNvPr id="141" name="Lines 141"/>
          <p:cNvSpPr txBox="1"/>
          <p:nvPr/>
        </p:nvSpPr>
        <p:spPr>
          <a:xfrm>
            <a:off x="9169999" y="4370000"/>
            <a:ext cx="2400000" cy="10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</a:rPr>
              <a:t>4,934 regions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</a:rPr>
              <a:t>Region and OSM road graphs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– Graph Learning &amp; Navigation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8255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142" name="Panel 142"/>
          <p:cNvSpPr/>
          <p:nvPr/>
        </p:nvSpPr>
        <p:spPr>
          <a:xfrm>
            <a:off x="300000" y="1400000"/>
            <a:ext cx="5600000" cy="39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43" name="Panel 143"/>
          <p:cNvSpPr/>
          <p:nvPr/>
        </p:nvSpPr>
        <p:spPr>
          <a:xfrm>
            <a:off x="6100000" y="1400000"/>
            <a:ext cx="5600000" cy="39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00000" y="1480000"/>
            <a:ext cx="5400000" cy="375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600" b="1" i="0" dirty="0">
                <a:solidFill>
                  <a:srgbClr val="5583D1"/>
                </a:solidFill>
                <a:latin typeface="+mn-lt"/>
              </a:rPr>
              <a:t>Graph Learning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</a:rPr>
              <a:t>Dataset builder produces node features and graph tensors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</a:rPr>
              <a:t>GraphSAGE regression predicts a risk score per node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</a:rPr>
              <a:t>Adam optimiser with MSE loss; RMSE, MAE and R² evaluation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</a:rPr>
              <a:t>MLflow run tracking, model registry and embedding export</a:t>
            </a:r>
          </a:p>
        </p:txBody>
      </p:sp>
      <p:sp>
        <p:nvSpPr>
          <p:cNvPr id="144" name="Right column 144"/>
          <p:cNvSpPr txBox="1"/>
          <p:nvPr/>
        </p:nvSpPr>
        <p:spPr>
          <a:xfrm>
            <a:off x="6200000" y="1480000"/>
            <a:ext cx="5400000" cy="3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600" b="1" i="0" dirty="0">
                <a:solidFill>
                  <a:srgbClr val="5583D1"/>
                </a:solidFill>
                <a:latin typeface="+mn-lt"/>
              </a:rPr>
              <a:t>Routing &amp; Navigation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</a:rPr>
              <a:t>Routing engine plans a region-to-region corridor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</a:rPr>
              <a:t>Navigation engine runs A* over the OSM road graph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</a:rPr>
              <a:t>Walking and driving profiles: fastest, balanced, safe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42424"/>
                </a:solidFill>
                <a:latin typeface="+mn-lt"/>
              </a:rPr>
              <a:t>Returns coordinates, distance, node count, average and maximum risk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0000" y="1330000"/>
            <a:ext cx="11400000" cy="140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42424"/>
                </a:solidFill>
                <a:latin typeface="+mn-lt"/>
              </a:rPr>
              <a:t>Existing navigation finds the shortest or fastest path but ignores safety, while citizen-reported safety information stays scattered and unused for routing.</a:t>
            </a:r>
          </a:p>
        </p:txBody>
      </p:sp>
      <p:sp>
        <p:nvSpPr>
          <p:cNvPr id="145" name="Card 145"/>
          <p:cNvSpPr/>
          <p:nvPr/>
        </p:nvSpPr>
        <p:spPr>
          <a:xfrm>
            <a:off x="300000" y="2950000"/>
            <a:ext cx="3600000" cy="23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46" name="Badge 146"/>
          <p:cNvSpPr/>
          <p:nvPr/>
        </p:nvSpPr>
        <p:spPr>
          <a:xfrm>
            <a:off x="480000" y="3100000"/>
            <a:ext cx="450000" cy="45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147" name="Heading 147"/>
          <p:cNvSpPr txBox="1"/>
          <p:nvPr/>
        </p:nvSpPr>
        <p:spPr>
          <a:xfrm>
            <a:off x="480000" y="3680000"/>
            <a:ext cx="33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Safety is not optimised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480000" y="4180000"/>
            <a:ext cx="33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Route planners optimise distance, time and traffic; none treat safety as a cost</a:t>
            </a:r>
          </a:p>
        </p:txBody>
      </p:sp>
      <p:sp>
        <p:nvSpPr>
          <p:cNvPr id="149" name="Card 149"/>
          <p:cNvSpPr/>
          <p:nvPr/>
        </p:nvSpPr>
        <p:spPr>
          <a:xfrm>
            <a:off x="4200000" y="2950000"/>
            <a:ext cx="3600000" cy="23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50" name="Badge 150"/>
          <p:cNvSpPr/>
          <p:nvPr/>
        </p:nvSpPr>
        <p:spPr>
          <a:xfrm>
            <a:off x="4380000" y="3100000"/>
            <a:ext cx="450000" cy="45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151" name="Heading 151"/>
          <p:cNvSpPr txBox="1"/>
          <p:nvPr/>
        </p:nvSpPr>
        <p:spPr>
          <a:xfrm>
            <a:off x="4380000" y="3680000"/>
            <a:ext cx="33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Reports are unstructured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380000" y="4180000"/>
            <a:ext cx="33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Citizen incidents are not linked to places, categories or severity for analysis</a:t>
            </a:r>
          </a:p>
        </p:txBody>
      </p:sp>
      <p:sp>
        <p:nvSpPr>
          <p:cNvPr id="153" name="Card 153"/>
          <p:cNvSpPr/>
          <p:nvPr/>
        </p:nvSpPr>
        <p:spPr>
          <a:xfrm>
            <a:off x="8100000" y="2950000"/>
            <a:ext cx="3600000" cy="23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54" name="Badge 154"/>
          <p:cNvSpPr/>
          <p:nvPr/>
        </p:nvSpPr>
        <p:spPr>
          <a:xfrm>
            <a:off x="8280000" y="3100000"/>
            <a:ext cx="450000" cy="45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155" name="Heading 155"/>
          <p:cNvSpPr txBox="1"/>
          <p:nvPr/>
        </p:nvSpPr>
        <p:spPr>
          <a:xfrm>
            <a:off x="8280000" y="3680000"/>
            <a:ext cx="33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Risk is not isolated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280000" y="4180000"/>
            <a:ext cx="33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An unsafe intersection affects nearby roads, so each point needs graph context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0000" y="1330000"/>
            <a:ext cx="11400000" cy="50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5583D1"/>
                </a:solidFill>
                <a:latin typeface="+mn-lt"/>
              </a:rPr>
              <a:t>From citizen report to risk-aware road route in nine steps</a:t>
            </a:r>
          </a:p>
        </p:txBody>
      </p:sp>
      <p:sp>
        <p:nvSpPr>
          <p:cNvPr id="157" name="Step 157"/>
          <p:cNvSpPr/>
          <p:nvPr/>
        </p:nvSpPr>
        <p:spPr>
          <a:xfrm>
            <a:off x="300000" y="193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58" name="Badge 158"/>
          <p:cNvSpPr/>
          <p:nvPr/>
        </p:nvSpPr>
        <p:spPr>
          <a:xfrm>
            <a:off x="410000" y="2030000"/>
            <a:ext cx="340000" cy="34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159" name="Step title 159"/>
          <p:cNvSpPr txBox="1"/>
          <p:nvPr/>
        </p:nvSpPr>
        <p:spPr>
          <a:xfrm>
            <a:off x="410000" y="241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</a:rPr>
              <a:t>Citizen Reports</a:t>
            </a:r>
          </a:p>
        </p:txBody>
      </p:sp>
      <p:sp>
        <p:nvSpPr>
          <p:cNvPr id="160" name="Step text 160"/>
          <p:cNvSpPr txBox="1"/>
          <p:nvPr/>
        </p:nvSpPr>
        <p:spPr>
          <a:xfrm>
            <a:off x="410000" y="303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Category, severity, location</a:t>
            </a:r>
          </a:p>
        </p:txBody>
      </p:sp>
      <p:sp>
        <p:nvSpPr>
          <p:cNvPr id="161" name="Arrow 161"/>
          <p:cNvSpPr/>
          <p:nvPr/>
        </p:nvSpPr>
        <p:spPr>
          <a:xfrm>
            <a:off x="2300000" y="2625000"/>
            <a:ext cx="300000" cy="260000"/>
          </a:xfrm>
          <a:prstGeom prst="rightArrow">
            <a:avLst/>
          </a:prstGeom>
          <a:solidFill>
            <a:srgbClr val="47BDA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62" name="Step 162"/>
          <p:cNvSpPr/>
          <p:nvPr/>
        </p:nvSpPr>
        <p:spPr>
          <a:xfrm>
            <a:off x="2650000" y="193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63" name="Badge 163"/>
          <p:cNvSpPr/>
          <p:nvPr/>
        </p:nvSpPr>
        <p:spPr>
          <a:xfrm>
            <a:off x="2760000" y="2030000"/>
            <a:ext cx="340000" cy="34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164" name="Step title 164"/>
          <p:cNvSpPr txBox="1"/>
          <p:nvPr/>
        </p:nvSpPr>
        <p:spPr>
          <a:xfrm>
            <a:off x="2760000" y="241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</a:rPr>
              <a:t>Region Assignment</a:t>
            </a:r>
          </a:p>
        </p:txBody>
      </p:sp>
      <p:sp>
        <p:nvSpPr>
          <p:cNvPr id="165" name="Step text 165"/>
          <p:cNvSpPr txBox="1"/>
          <p:nvPr/>
        </p:nvSpPr>
        <p:spPr>
          <a:xfrm>
            <a:off x="2760000" y="303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Mapped to one of 4,934 regions</a:t>
            </a:r>
          </a:p>
        </p:txBody>
      </p:sp>
      <p:sp>
        <p:nvSpPr>
          <p:cNvPr id="166" name="Arrow 166"/>
          <p:cNvSpPr/>
          <p:nvPr/>
        </p:nvSpPr>
        <p:spPr>
          <a:xfrm>
            <a:off x="4650000" y="2625000"/>
            <a:ext cx="300000" cy="260000"/>
          </a:xfrm>
          <a:prstGeom prst="rightArrow">
            <a:avLst/>
          </a:prstGeom>
          <a:solidFill>
            <a:srgbClr val="47BDA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67" name="Step 167"/>
          <p:cNvSpPr/>
          <p:nvPr/>
        </p:nvSpPr>
        <p:spPr>
          <a:xfrm>
            <a:off x="5000000" y="193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68" name="Badge 168"/>
          <p:cNvSpPr/>
          <p:nvPr/>
        </p:nvSpPr>
        <p:spPr>
          <a:xfrm>
            <a:off x="5110000" y="2030000"/>
            <a:ext cx="340000" cy="34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169" name="Step title 169"/>
          <p:cNvSpPr txBox="1"/>
          <p:nvPr/>
        </p:nvSpPr>
        <p:spPr>
          <a:xfrm>
            <a:off x="5110000" y="241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</a:rPr>
              <a:t>Safety Features</a:t>
            </a:r>
          </a:p>
        </p:txBody>
      </p:sp>
      <p:sp>
        <p:nvSpPr>
          <p:cNvPr id="170" name="Step text 170"/>
          <p:cNvSpPr txBox="1"/>
          <p:nvPr/>
        </p:nvSpPr>
        <p:spPr>
          <a:xfrm>
            <a:off x="5110000" y="303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Reports, amenities, neighbours</a:t>
            </a:r>
          </a:p>
        </p:txBody>
      </p:sp>
      <p:sp>
        <p:nvSpPr>
          <p:cNvPr id="171" name="Arrow 171"/>
          <p:cNvSpPr/>
          <p:nvPr/>
        </p:nvSpPr>
        <p:spPr>
          <a:xfrm>
            <a:off x="7000000" y="2625000"/>
            <a:ext cx="300000" cy="260000"/>
          </a:xfrm>
          <a:prstGeom prst="rightArrow">
            <a:avLst/>
          </a:prstGeom>
          <a:solidFill>
            <a:srgbClr val="47BDA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72" name="Step 172"/>
          <p:cNvSpPr/>
          <p:nvPr/>
        </p:nvSpPr>
        <p:spPr>
          <a:xfrm>
            <a:off x="7350000" y="193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73" name="Badge 173"/>
          <p:cNvSpPr/>
          <p:nvPr/>
        </p:nvSpPr>
        <p:spPr>
          <a:xfrm>
            <a:off x="7460000" y="2030000"/>
            <a:ext cx="340000" cy="34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174" name="Step title 174"/>
          <p:cNvSpPr txBox="1"/>
          <p:nvPr/>
        </p:nvSpPr>
        <p:spPr>
          <a:xfrm>
            <a:off x="7460000" y="241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</a:rPr>
              <a:t>Risk Engine</a:t>
            </a:r>
          </a:p>
        </p:txBody>
      </p:sp>
      <p:sp>
        <p:nvSpPr>
          <p:cNvPr id="175" name="Step text 175"/>
          <p:cNvSpPr txBox="1"/>
          <p:nvPr/>
        </p:nvSpPr>
        <p:spPr>
          <a:xfrm>
            <a:off x="7460000" y="303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Risk scores, incremental refresh</a:t>
            </a:r>
          </a:p>
        </p:txBody>
      </p:sp>
      <p:sp>
        <p:nvSpPr>
          <p:cNvPr id="176" name="Arrow 176"/>
          <p:cNvSpPr/>
          <p:nvPr/>
        </p:nvSpPr>
        <p:spPr>
          <a:xfrm>
            <a:off x="9350000" y="2625000"/>
            <a:ext cx="300000" cy="260000"/>
          </a:xfrm>
          <a:prstGeom prst="rightArrow">
            <a:avLst/>
          </a:prstGeom>
          <a:solidFill>
            <a:srgbClr val="47BDA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77" name="Step 177"/>
          <p:cNvSpPr/>
          <p:nvPr/>
        </p:nvSpPr>
        <p:spPr>
          <a:xfrm>
            <a:off x="9700000" y="193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78" name="Badge 178"/>
          <p:cNvSpPr/>
          <p:nvPr/>
        </p:nvSpPr>
        <p:spPr>
          <a:xfrm>
            <a:off x="9810000" y="2030000"/>
            <a:ext cx="340000" cy="34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5</a:t>
            </a:r>
          </a:p>
        </p:txBody>
      </p:sp>
      <p:sp>
        <p:nvSpPr>
          <p:cNvPr id="179" name="Step title 179"/>
          <p:cNvSpPr txBox="1"/>
          <p:nvPr/>
        </p:nvSpPr>
        <p:spPr>
          <a:xfrm>
            <a:off x="9810000" y="241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</a:rPr>
              <a:t>GraphSAGE</a:t>
            </a:r>
          </a:p>
        </p:txBody>
      </p:sp>
      <p:sp>
        <p:nvSpPr>
          <p:cNvPr id="180" name="Step text 180"/>
          <p:cNvSpPr txBox="1"/>
          <p:nvPr/>
        </p:nvSpPr>
        <p:spPr>
          <a:xfrm>
            <a:off x="9810000" y="303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Learns from neighbouring nodes</a:t>
            </a:r>
          </a:p>
        </p:txBody>
      </p:sp>
      <p:sp>
        <p:nvSpPr>
          <p:cNvPr id="181" name="Step 181"/>
          <p:cNvSpPr/>
          <p:nvPr/>
        </p:nvSpPr>
        <p:spPr>
          <a:xfrm>
            <a:off x="300000" y="376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82" name="Badge 182"/>
          <p:cNvSpPr/>
          <p:nvPr/>
        </p:nvSpPr>
        <p:spPr>
          <a:xfrm>
            <a:off x="410000" y="3860000"/>
            <a:ext cx="340000" cy="34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6</a:t>
            </a:r>
          </a:p>
        </p:txBody>
      </p:sp>
      <p:sp>
        <p:nvSpPr>
          <p:cNvPr id="183" name="Step title 183"/>
          <p:cNvSpPr txBox="1"/>
          <p:nvPr/>
        </p:nvSpPr>
        <p:spPr>
          <a:xfrm>
            <a:off x="410000" y="424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</a:rPr>
              <a:t>Predictions</a:t>
            </a:r>
          </a:p>
        </p:txBody>
      </p:sp>
      <p:sp>
        <p:nvSpPr>
          <p:cNvPr id="184" name="Step text 184"/>
          <p:cNvSpPr txBox="1"/>
          <p:nvPr/>
        </p:nvSpPr>
        <p:spPr>
          <a:xfrm>
            <a:off x="410000" y="486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Risk score per node</a:t>
            </a:r>
          </a:p>
        </p:txBody>
      </p:sp>
      <p:sp>
        <p:nvSpPr>
          <p:cNvPr id="185" name="Arrow 185"/>
          <p:cNvSpPr/>
          <p:nvPr/>
        </p:nvSpPr>
        <p:spPr>
          <a:xfrm>
            <a:off x="2300000" y="4455000"/>
            <a:ext cx="300000" cy="260000"/>
          </a:xfrm>
          <a:prstGeom prst="rightArrow">
            <a:avLst/>
          </a:prstGeom>
          <a:solidFill>
            <a:srgbClr val="47BDA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86" name="Step 186"/>
          <p:cNvSpPr/>
          <p:nvPr/>
        </p:nvSpPr>
        <p:spPr>
          <a:xfrm>
            <a:off x="2650000" y="376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87" name="Badge 187"/>
          <p:cNvSpPr/>
          <p:nvPr/>
        </p:nvSpPr>
        <p:spPr>
          <a:xfrm>
            <a:off x="2760000" y="3860000"/>
            <a:ext cx="340000" cy="34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7</a:t>
            </a:r>
          </a:p>
        </p:txBody>
      </p:sp>
      <p:sp>
        <p:nvSpPr>
          <p:cNvPr id="188" name="Step title 188"/>
          <p:cNvSpPr txBox="1"/>
          <p:nvPr/>
        </p:nvSpPr>
        <p:spPr>
          <a:xfrm>
            <a:off x="2760000" y="424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</a:rPr>
              <a:t>Routing Engine</a:t>
            </a:r>
          </a:p>
        </p:txBody>
      </p:sp>
      <p:sp>
        <p:nvSpPr>
          <p:cNvPr id="189" name="Step text 189"/>
          <p:cNvSpPr txBox="1"/>
          <p:nvPr/>
        </p:nvSpPr>
        <p:spPr>
          <a:xfrm>
            <a:off x="2760000" y="486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Region-to-region corridor</a:t>
            </a:r>
          </a:p>
        </p:txBody>
      </p:sp>
      <p:sp>
        <p:nvSpPr>
          <p:cNvPr id="190" name="Arrow 190"/>
          <p:cNvSpPr/>
          <p:nvPr/>
        </p:nvSpPr>
        <p:spPr>
          <a:xfrm>
            <a:off x="4650000" y="4455000"/>
            <a:ext cx="300000" cy="260000"/>
          </a:xfrm>
          <a:prstGeom prst="rightArrow">
            <a:avLst/>
          </a:prstGeom>
          <a:solidFill>
            <a:srgbClr val="47BDA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91" name="Step 191"/>
          <p:cNvSpPr/>
          <p:nvPr/>
        </p:nvSpPr>
        <p:spPr>
          <a:xfrm>
            <a:off x="5000000" y="376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92" name="Badge 192"/>
          <p:cNvSpPr/>
          <p:nvPr/>
        </p:nvSpPr>
        <p:spPr>
          <a:xfrm>
            <a:off x="5110000" y="3860000"/>
            <a:ext cx="340000" cy="340000"/>
          </a:xfrm>
          <a:prstGeom prst="ellipse">
            <a:avLst/>
          </a:prstGeom>
          <a:solidFill>
            <a:srgbClr val="3793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8</a:t>
            </a:r>
          </a:p>
        </p:txBody>
      </p:sp>
      <p:sp>
        <p:nvSpPr>
          <p:cNvPr id="193" name="Step title 193"/>
          <p:cNvSpPr txBox="1"/>
          <p:nvPr/>
        </p:nvSpPr>
        <p:spPr>
          <a:xfrm>
            <a:off x="5110000" y="424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+mn-lt"/>
              </a:rPr>
              <a:t>Navigation Engine</a:t>
            </a:r>
          </a:p>
        </p:txBody>
      </p:sp>
      <p:sp>
        <p:nvSpPr>
          <p:cNvPr id="194" name="Step text 194"/>
          <p:cNvSpPr txBox="1"/>
          <p:nvPr/>
        </p:nvSpPr>
        <p:spPr>
          <a:xfrm>
            <a:off x="5110000" y="486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+mn-lt"/>
              </a:rPr>
              <a:t>A* on the OSM road graph</a:t>
            </a:r>
          </a:p>
        </p:txBody>
      </p:sp>
      <p:sp>
        <p:nvSpPr>
          <p:cNvPr id="195" name="Arrow 195"/>
          <p:cNvSpPr/>
          <p:nvPr/>
        </p:nvSpPr>
        <p:spPr>
          <a:xfrm>
            <a:off x="7000000" y="4455000"/>
            <a:ext cx="300000" cy="260000"/>
          </a:xfrm>
          <a:prstGeom prst="rightArrow">
            <a:avLst/>
          </a:prstGeom>
          <a:solidFill>
            <a:srgbClr val="47BDAF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96" name="Step 196"/>
          <p:cNvSpPr/>
          <p:nvPr/>
        </p:nvSpPr>
        <p:spPr>
          <a:xfrm>
            <a:off x="7350000" y="376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1C4D9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197" name="Badge 197"/>
          <p:cNvSpPr/>
          <p:nvPr/>
        </p:nvSpPr>
        <p:spPr>
          <a:xfrm>
            <a:off x="7460000" y="3860000"/>
            <a:ext cx="340000" cy="340000"/>
          </a:xfrm>
          <a:prstGeom prst="ellipse">
            <a:avLst/>
          </a:prstGeom>
          <a:solidFill>
            <a:srgbClr val="47BDA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+mn-lt"/>
              </a:rPr>
              <a:t>9</a:t>
            </a:r>
          </a:p>
        </p:txBody>
      </p:sp>
      <p:sp>
        <p:nvSpPr>
          <p:cNvPr id="198" name="Step title 198"/>
          <p:cNvSpPr txBox="1"/>
          <p:nvPr/>
        </p:nvSpPr>
        <p:spPr>
          <a:xfrm>
            <a:off x="7460000" y="4240000"/>
            <a:ext cx="173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+mn-lt"/>
              </a:rPr>
              <a:t>Safe Route</a:t>
            </a:r>
          </a:p>
        </p:txBody>
      </p:sp>
      <p:sp>
        <p:nvSpPr>
          <p:cNvPr id="199" name="Step text 199"/>
          <p:cNvSpPr txBox="1"/>
          <p:nvPr/>
        </p:nvSpPr>
        <p:spPr>
          <a:xfrm>
            <a:off x="7460000" y="4860000"/>
            <a:ext cx="173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</a:rPr>
              <a:t>Risk-aware road route</a:t>
            </a:r>
          </a:p>
        </p:txBody>
      </p:sp>
      <p:sp>
        <p:nvSpPr>
          <p:cNvPr id="200" name="Profiles 200"/>
          <p:cNvSpPr/>
          <p:nvPr/>
        </p:nvSpPr>
        <p:spPr>
          <a:xfrm>
            <a:off x="9700000" y="3760000"/>
            <a:ext cx="1950000" cy="1650000"/>
          </a:xfrm>
          <a:prstGeom prst="roundRect">
            <a:avLst>
              <a:gd name="adj" fmla="val 7000"/>
            </a:avLst>
          </a:prstGeom>
          <a:solidFill>
            <a:srgbClr val="3793A6"/>
          </a:solidFill>
          <a:ln>
            <a:noFill/>
          </a:ln>
        </p:spPr>
        <p:txBody>
          <a:bodyPr wrap="square" lIns="110000" tIns="130000" rIns="110000" bIns="8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+mn-lt"/>
              </a:rPr>
              <a:t>Profiles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+mn-lt"/>
              </a:rPr>
              <a:t>Walking and driving, each fastest, balanced or safe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Approach, Algorithms &amp;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0000" y="1330000"/>
            <a:ext cx="11400000" cy="70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5583D1"/>
                </a:solidFill>
                <a:latin typeface="+mn-lt"/>
              </a:rPr>
              <a:t>GraphSAGE predicts node risk; routing trades distance for safety within a detour limit</a:t>
            </a:r>
          </a:p>
        </p:txBody>
      </p:sp>
      <p:sp>
        <p:nvSpPr>
          <p:cNvPr id="201" name="Card 201"/>
          <p:cNvSpPr/>
          <p:nvPr/>
        </p:nvSpPr>
        <p:spPr>
          <a:xfrm>
            <a:off x="300000" y="2150000"/>
            <a:ext cx="363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60000" tIns="110000" rIns="120000" bIns="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Data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OpenStreetMap, Chennai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Region graph and road graph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583 place names for regions</a:t>
            </a:r>
          </a:p>
        </p:txBody>
      </p:sp>
      <p:sp>
        <p:nvSpPr>
          <p:cNvPr id="202" name="Card 202"/>
          <p:cNvSpPr/>
          <p:nvPr/>
        </p:nvSpPr>
        <p:spPr>
          <a:xfrm>
            <a:off x="4185000" y="2150000"/>
            <a:ext cx="363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60000" tIns="110000" rIns="120000" bIns="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Graph ML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GraphSAGE node regression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Adam optimiser, MSE loss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RMSE, MAE and R² metrics</a:t>
            </a:r>
          </a:p>
        </p:txBody>
      </p:sp>
      <p:sp>
        <p:nvSpPr>
          <p:cNvPr id="203" name="Card 203"/>
          <p:cNvSpPr/>
          <p:nvPr/>
        </p:nvSpPr>
        <p:spPr>
          <a:xfrm>
            <a:off x="8070000" y="2150000"/>
            <a:ext cx="363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60000" tIns="110000" rIns="120000" bIns="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MLOps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MLflow experiment tracking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Model registry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Embedding export</a:t>
            </a:r>
          </a:p>
        </p:txBody>
      </p:sp>
      <p:sp>
        <p:nvSpPr>
          <p:cNvPr id="204" name="Card 204"/>
          <p:cNvSpPr/>
          <p:nvPr/>
        </p:nvSpPr>
        <p:spPr>
          <a:xfrm>
            <a:off x="300000" y="3850000"/>
            <a:ext cx="363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60000" tIns="110000" rIns="120000" bIns="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Backend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FastAPI services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Reports and navigation APIs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Incremental risk refresh</a:t>
            </a:r>
          </a:p>
        </p:txBody>
      </p:sp>
      <p:sp>
        <p:nvSpPr>
          <p:cNvPr id="205" name="Card 205"/>
          <p:cNvSpPr/>
          <p:nvPr/>
        </p:nvSpPr>
        <p:spPr>
          <a:xfrm>
            <a:off x="4185000" y="3850000"/>
            <a:ext cx="363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60000" tIns="110000" rIns="120000" bIns="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Routing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A* search on the road graph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Distance and risk weighted cost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Detour limit 1.0x to 1.4x</a:t>
            </a:r>
          </a:p>
        </p:txBody>
      </p:sp>
      <p:sp>
        <p:nvSpPr>
          <p:cNvPr id="206" name="Card 206"/>
          <p:cNvSpPr/>
          <p:nvPr/>
        </p:nvSpPr>
        <p:spPr>
          <a:xfrm>
            <a:off x="8070000" y="3850000"/>
            <a:ext cx="3630000" cy="15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160000" tIns="110000" rIns="120000" bIns="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+mn-lt"/>
              </a:rPr>
              <a:t>Frontend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Flutter mobile app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OpenStreetMap map and GPS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+mn-lt"/>
              </a:rPr>
              <a:t>Report form, route display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0000" y="1330000"/>
            <a:ext cx="11400000" cy="50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5583D1"/>
                </a:solidFill>
                <a:latin typeface="+mn-lt"/>
              </a:rPr>
              <a:t>Model performance and route comparison</a:t>
            </a:r>
          </a:p>
        </p:txBody>
      </p:sp>
      <p:sp>
        <p:nvSpPr>
          <p:cNvPr id="207" name="KPI 207"/>
          <p:cNvSpPr/>
          <p:nvPr/>
        </p:nvSpPr>
        <p:spPr>
          <a:xfrm>
            <a:off x="300000" y="2804000"/>
            <a:ext cx="3600000" cy="12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600" b="1" i="0" dirty="0">
                <a:solidFill>
                  <a:srgbClr val="1C4D98"/>
                </a:solidFill>
                <a:latin typeface="+mn-lt"/>
              </a:rPr>
              <a:t>0.23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595959"/>
                </a:solidFill>
                <a:latin typeface="+mn-lt"/>
              </a:rPr>
              <a:t>RMSE</a:t>
            </a:r>
          </a:p>
        </p:txBody>
      </p:sp>
      <p:sp>
        <p:nvSpPr>
          <p:cNvPr id="208" name="KPI 208"/>
          <p:cNvSpPr/>
          <p:nvPr/>
        </p:nvSpPr>
        <p:spPr>
          <a:xfrm>
            <a:off x="4200000" y="2804000"/>
            <a:ext cx="3600000" cy="12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600" b="1" i="0" dirty="0">
                <a:solidFill>
                  <a:srgbClr val="1C4D98"/>
                </a:solidFill>
                <a:latin typeface="+mn-lt"/>
              </a:rPr>
              <a:t>0.21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595959"/>
                </a:solidFill>
                <a:latin typeface="+mn-lt"/>
              </a:rPr>
              <a:t>MAE</a:t>
            </a:r>
          </a:p>
        </p:txBody>
      </p:sp>
      <p:sp>
        <p:nvSpPr>
          <p:cNvPr id="209" name="KPI 209"/>
          <p:cNvSpPr/>
          <p:nvPr/>
        </p:nvSpPr>
        <p:spPr>
          <a:xfrm>
            <a:off x="8100000" y="2804000"/>
            <a:ext cx="3600000" cy="12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1C4D98"/>
                </a:solidFill>
              </a:rPr>
              <a:t>0.89</a:t>
            </a:r>
            <a:endParaRPr lang="en-US" sz="3600" b="1" i="0" dirty="0">
              <a:solidFill>
                <a:srgbClr val="1C4D98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595959"/>
                </a:solidFill>
                <a:latin typeface="+mn-lt"/>
              </a:rPr>
              <a:t>R²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Conclusion and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0000" y="1400000"/>
            <a:ext cx="6100000" cy="3900000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</a:rPr>
              <a:t>End-to-end flow from citizen report to risk-aware road route is working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</a:rPr>
              <a:t>GraphSAGE predicts a risk score for every node of the Chennai road graph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</a:rPr>
              <a:t>Safe profiles accept a bounded detour in return for lower route risk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242424"/>
                </a:solidFill>
                <a:latin typeface="+mn-lt"/>
              </a:rPr>
              <a:t>Region names such as Teynampet and Alwarpet replace raw region IDs</a:t>
            </a:r>
          </a:p>
        </p:txBody>
      </p:sp>
      <p:sp>
        <p:nvSpPr>
          <p:cNvPr id="211" name="Future work 211"/>
          <p:cNvSpPr/>
          <p:nvPr/>
        </p:nvSpPr>
        <p:spPr>
          <a:xfrm>
            <a:off x="6700000" y="1400000"/>
            <a:ext cx="5000000" cy="3900000"/>
          </a:xfrm>
          <a:prstGeom prst="roundRect">
            <a:avLst>
              <a:gd name="adj" fmla="val 7000"/>
            </a:avLst>
          </a:prstGeom>
          <a:solidFill>
            <a:srgbClr val="1C4D98"/>
          </a:solidFill>
          <a:ln>
            <a:noFill/>
          </a:ln>
        </p:spPr>
        <p:txBody>
          <a:bodyPr wrap="square" lIns="220000" tIns="200000" rIns="20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+mn-lt"/>
              </a:rPr>
              <a:t>Future Work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FFFFFF"/>
                </a:solidFill>
                <a:latin typeface="+mn-lt"/>
              </a:rPr>
              <a:t>Emergency intelligence: nearest hospital and police, emergency routing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FFFFFF"/>
                </a:solidFill>
                <a:latin typeface="+mn-lt"/>
              </a:rPr>
              <a:t>GraphRAG safety copilot that explains why an area is unsafe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FFFFFF"/>
                </a:solidFill>
                <a:latin typeface="+mn-lt"/>
              </a:rPr>
              <a:t>Prediction layer and risk heat zones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</a:rPr>
              <a:t>Better Model and report </a:t>
            </a:r>
            <a:r>
              <a:rPr lang="en-US">
                <a:solidFill>
                  <a:srgbClr val="FFFFFF"/>
                </a:solidFill>
              </a:rPr>
              <a:t>Reliant system</a:t>
            </a:r>
            <a:endParaRPr lang="en-US" sz="1800" b="0" i="0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12" name="Card 212"/>
          <p:cNvSpPr/>
          <p:nvPr/>
        </p:nvSpPr>
        <p:spPr>
          <a:xfrm>
            <a:off x="300000" y="1450000"/>
            <a:ext cx="11400000" cy="375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550000" y="1650000"/>
            <a:ext cx="10900000" cy="335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600" b="0" i="0" dirty="0">
                <a:solidFill>
                  <a:srgbClr val="242424"/>
                </a:solidFill>
                <a:latin typeface="+mn-lt"/>
              </a:rPr>
              <a:t>I sincerely thank the following for their guidance and support: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5583D1"/>
                </a:solidFill>
                <a:latin typeface="+mn-lt"/>
              </a:rPr>
              <a:t>[Guide name and designation]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5583D1"/>
                </a:solidFill>
                <a:latin typeface="+mn-lt"/>
              </a:rPr>
              <a:t>[University / department name]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5583D1"/>
                </a:solidFill>
                <a:latin typeface="+mn-lt"/>
              </a:rPr>
              <a:t>[LTIMindtree mentors]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GraphSafeAI</a:t>
            </a:r>
          </a:p>
          <a:p>
            <a:pPr algn="r"/>
            <a:endParaRPr lang="en-US" dirty="0"/>
          </a:p>
        </p:txBody>
      </p:sp>
      <p:sp>
        <p:nvSpPr>
          <p:cNvPr id="213" name="Card 213"/>
          <p:cNvSpPr/>
          <p:nvPr/>
        </p:nvSpPr>
        <p:spPr>
          <a:xfrm>
            <a:off x="300000" y="1450000"/>
            <a:ext cx="11400000" cy="3800000"/>
          </a:xfrm>
          <a:prstGeom prst="roundRect">
            <a:avLst>
              <a:gd name="adj" fmla="val 7000"/>
            </a:avLst>
          </a:prstGeom>
          <a:solidFill>
            <a:srgbClr val="EAF4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550000" y="1580000"/>
            <a:ext cx="10900000" cy="355000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dirty="0">
                <a:solidFill>
                  <a:srgbClr val="5583D1"/>
                </a:solidFill>
                <a:latin typeface="+mn-lt"/>
              </a:rPr>
              <a:t>[1]  </a:t>
            </a: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W. Hamilton, Z. Ying and J. Leskovec, "Inductive Representation Learning on Large Graphs," NeurIPS, 2017.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dirty="0">
                <a:solidFill>
                  <a:srgbClr val="5583D1"/>
                </a:solidFill>
                <a:latin typeface="+mn-lt"/>
              </a:rPr>
              <a:t>[2]  </a:t>
            </a: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P. Hart, N. Nilsson and B. Raphael, "A Formal Basis for the Heuristic Determination of Minimum Cost Paths," IEEE Trans. Systems Science and Cybernetics, 1968.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dirty="0">
                <a:solidFill>
                  <a:srgbClr val="5583D1"/>
                </a:solidFill>
                <a:latin typeface="+mn-lt"/>
              </a:rPr>
              <a:t>[3]  </a:t>
            </a: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M. Zaharia et al., "Accelerating the Machine Learning Lifecycle with MLflow," IEEE Data Engineering Bulletin, 2018.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dirty="0">
                <a:solidFill>
                  <a:srgbClr val="5583D1"/>
                </a:solidFill>
                <a:latin typeface="+mn-lt"/>
              </a:rPr>
              <a:t>[4]  </a:t>
            </a: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D. Edge et al., "From Local to Global: A Graph RAG Approach to Query-Focused Summarization," arXiv:2404.16130, 2024.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dirty="0">
                <a:solidFill>
                  <a:srgbClr val="5583D1"/>
                </a:solidFill>
                <a:latin typeface="+mn-lt"/>
              </a:rPr>
              <a:t>[5]  </a:t>
            </a:r>
            <a:r>
              <a:rPr lang="en-US" sz="1800" b="0" i="0" dirty="0">
                <a:solidFill>
                  <a:srgbClr val="242424"/>
                </a:solidFill>
                <a:latin typeface="+mn-lt"/>
              </a:rPr>
              <a:t>OpenStreetMap contributors, OpenStreetMap, https://www.openstreetmap.org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912</Words>
  <Application>Microsoft Office PowerPoint</Application>
  <PresentationFormat>Widescreen</PresentationFormat>
  <Paragraphs>190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Shivanshika Agarwal</cp:lastModifiedBy>
  <cp:revision>16</cp:revision>
  <dcterms:created xsi:type="dcterms:W3CDTF">2024-05-13T10:33:11Z</dcterms:created>
  <dcterms:modified xsi:type="dcterms:W3CDTF">2026-10-09T06:27:14Z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